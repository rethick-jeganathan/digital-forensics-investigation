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8"/>
  </p:notes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61" r:id="rId10"/>
    <p:sldId id="272" r:id="rId11"/>
    <p:sldId id="273" r:id="rId12"/>
    <p:sldId id="274" r:id="rId13"/>
    <p:sldId id="275" r:id="rId14"/>
    <p:sldId id="276" r:id="rId15"/>
    <p:sldId id="263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56618-DD1C-4835-90B5-5E2576A6EDB8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ED640-1D05-44E3-B7CB-0716AE937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10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ED640-1D05-44E3-B7CB-0716AE9372F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67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77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43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6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0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88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7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5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3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2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07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2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7B18BB7-155C-4C72-800F-FA339757A37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EF38BDD-74BE-4C00-A092-FBC0204E3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9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960120" y="2362200"/>
            <a:ext cx="10363200" cy="12192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1"/>
                </a:solidFill>
              </a:rPr>
              <a:t>Unauthorized System Access and Modification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856272" y="4589204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dirty="0"/>
              <a:t>Case ID: Group 3</a:t>
            </a:r>
          </a:p>
          <a:p>
            <a:r>
              <a:rPr dirty="0"/>
              <a:t>Investigators: Rethick, Sreenivas, Ra</a:t>
            </a:r>
            <a:r>
              <a:rPr lang="en-IN" dirty="0"/>
              <a:t>h</a:t>
            </a:r>
            <a:r>
              <a:rPr dirty="0" err="1"/>
              <a:t>gu</a:t>
            </a:r>
            <a:r>
              <a:rPr dirty="0"/>
              <a:t>, Bhargav</a:t>
            </a:r>
          </a:p>
          <a:p>
            <a:r>
              <a:rPr dirty="0"/>
              <a:t>Date: 0</a:t>
            </a:r>
            <a:r>
              <a:rPr lang="en-IN" dirty="0"/>
              <a:t>8</a:t>
            </a:r>
            <a:r>
              <a:rPr dirty="0"/>
              <a:t>-11-2024</a:t>
            </a:r>
          </a:p>
          <a:p>
            <a:r>
              <a:rPr dirty="0"/>
              <a:t>Acquisition Date: 25-10-2024</a:t>
            </a:r>
          </a:p>
        </p:txBody>
      </p:sp>
    </p:spTree>
    <p:extLst>
      <p:ext uri="{BB962C8B-B14F-4D97-AF65-F5344CB8AC3E}">
        <p14:creationId xmlns:p14="http://schemas.microsoft.com/office/powerpoint/2010/main" val="187017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411A2F-F95A-9E9B-E272-419462EEDD5A}"/>
              </a:ext>
            </a:extLst>
          </p:cNvPr>
          <p:cNvSpPr txBox="1">
            <a:spLocks/>
          </p:cNvSpPr>
          <p:nvPr/>
        </p:nvSpPr>
        <p:spPr>
          <a:xfrm>
            <a:off x="540773" y="848347"/>
            <a:ext cx="11184194" cy="5866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Given Statement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6F7EAE-7E82-DB65-08F5-3DC196EB7F48}"/>
              </a:ext>
            </a:extLst>
          </p:cNvPr>
          <p:cNvSpPr txBox="1">
            <a:spLocks/>
          </p:cNvSpPr>
          <p:nvPr/>
        </p:nvSpPr>
        <p:spPr>
          <a:xfrm>
            <a:off x="540773" y="1683769"/>
            <a:ext cx="11184194" cy="232287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/>
              </a:rPr>
              <a:t>One day an IT dept. guy/gal came to work to find the message below written in a file on his/her system! He/Her immediately reported that to you. Now you must uncover how it happened</a:t>
            </a:r>
          </a:p>
          <a:p>
            <a:r>
              <a:rPr lang="en-IN" dirty="0">
                <a:solidFill>
                  <a:schemeClr val="tx1"/>
                </a:solidFill>
                <a:effectLst/>
              </a:rPr>
              <a:t>Obtained artifacts </a:t>
            </a:r>
          </a:p>
          <a:p>
            <a:pPr lvl="1"/>
            <a:r>
              <a:rPr lang="en-IN" dirty="0">
                <a:effectLst/>
              </a:rPr>
              <a:t>System Image File </a:t>
            </a:r>
          </a:p>
          <a:p>
            <a:pPr lvl="1"/>
            <a:r>
              <a:rPr lang="en-IN" dirty="0">
                <a:effectLst/>
              </a:rPr>
              <a:t>Hashes and password text file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marL="450000" lvl="1" indent="0">
              <a:buFont typeface="Wingdings 2" charset="2"/>
              <a:buNone/>
            </a:pPr>
            <a:endParaRPr lang="en-US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B8479-C504-B645-A066-B3FC9B25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909" y="4005903"/>
            <a:ext cx="3277451" cy="20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3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78CFB9-C604-46C8-8AC7-D8CAA1E4C503}"/>
              </a:ext>
            </a:extLst>
          </p:cNvPr>
          <p:cNvSpPr txBox="1">
            <a:spLocks/>
          </p:cNvSpPr>
          <p:nvPr/>
        </p:nvSpPr>
        <p:spPr>
          <a:xfrm>
            <a:off x="545690" y="392625"/>
            <a:ext cx="11184194" cy="5866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2ADEB0-CD8B-6ACD-5906-FBCF7AA655A0}"/>
              </a:ext>
            </a:extLst>
          </p:cNvPr>
          <p:cNvSpPr txBox="1">
            <a:spLocks/>
          </p:cNvSpPr>
          <p:nvPr/>
        </p:nvSpPr>
        <p:spPr>
          <a:xfrm>
            <a:off x="545690" y="1106129"/>
            <a:ext cx="11184194" cy="232287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/>
              </a:rPr>
              <a:t>To investigate unauthorized access to a Windows 8.1 Enterprise Edition system, identify evidence of an attack, and analyze artifacts to determine the scope and actions of the attacker.</a:t>
            </a:r>
          </a:p>
          <a:p>
            <a:endParaRPr lang="en-US" dirty="0">
              <a:effectLst/>
            </a:endParaRPr>
          </a:p>
          <a:p>
            <a:pPr marL="450000" lvl="1" indent="0">
              <a:buFont typeface="Wingdings 2" charset="2"/>
              <a:buNone/>
            </a:pPr>
            <a:endParaRPr lang="en-US" dirty="0">
              <a:effectLst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37FA23-EE19-4E5D-B7AE-1985A970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028" y="2012212"/>
            <a:ext cx="10353762" cy="97045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/>
                </a:solidFill>
              </a:rPr>
              <a:t>Evidence Summary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0A48B6-3517-A4D9-ED8E-DCC9F169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2406624"/>
            <a:ext cx="10353762" cy="405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IN" dirty="0"/>
          </a:p>
          <a:p>
            <a:r>
              <a:rPr lang="en-IN" dirty="0"/>
              <a:t>Image Information:</a:t>
            </a:r>
          </a:p>
          <a:p>
            <a:pPr lvl="1"/>
            <a:r>
              <a:rPr lang="en-IN" dirty="0"/>
              <a:t> Acquisition started:   Fri Dec 11 09:35:03 2015</a:t>
            </a:r>
          </a:p>
          <a:p>
            <a:pPr lvl="1"/>
            <a:r>
              <a:rPr lang="en-IN" dirty="0"/>
              <a:t> Acquisition finished:  Fri Dec 11 09:47:19 2015</a:t>
            </a:r>
          </a:p>
          <a:p>
            <a:r>
              <a:rPr lang="en-IN" dirty="0"/>
              <a:t>Image Verification Results:</a:t>
            </a:r>
          </a:p>
          <a:p>
            <a:pPr lvl="1"/>
            <a:r>
              <a:rPr lang="en-IN" dirty="0"/>
              <a:t> Verification started:  Fri Oct 25 09:47:19 2024</a:t>
            </a:r>
          </a:p>
          <a:p>
            <a:pPr lvl="1"/>
            <a:r>
              <a:rPr lang="en-IN" dirty="0"/>
              <a:t> Verification finished: Fri Oct 25 09:52:48 2024</a:t>
            </a:r>
          </a:p>
          <a:p>
            <a:pPr lvl="1"/>
            <a:r>
              <a:rPr lang="en-IN" dirty="0"/>
              <a:t> MD5 checksum:    9a737b6a21ecbe979126c5661ca7b8db : </a:t>
            </a:r>
            <a:r>
              <a:rPr lang="en-IN" dirty="0">
                <a:solidFill>
                  <a:srgbClr val="00B050"/>
                </a:solidFill>
              </a:rPr>
              <a:t>verified</a:t>
            </a:r>
          </a:p>
          <a:p>
            <a:pPr lvl="1"/>
            <a:r>
              <a:rPr lang="en-IN" dirty="0"/>
              <a:t> SHA1 checksum:   ebef2bdc6329563ccf85769c3e5b8ceca852992b : </a:t>
            </a:r>
            <a:r>
              <a:rPr lang="en-IN" dirty="0">
                <a:solidFill>
                  <a:srgbClr val="00B050"/>
                </a:solidFill>
              </a:rPr>
              <a:t>verified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18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199" y="838518"/>
            <a:ext cx="11105535" cy="114300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Tools </a:t>
            </a:r>
            <a:r>
              <a:rPr lang="en-IN" dirty="0">
                <a:solidFill>
                  <a:schemeClr val="tx1"/>
                </a:solidFill>
              </a:rPr>
              <a:t>&amp; SOFTWARES </a:t>
            </a:r>
            <a:r>
              <a:rPr dirty="0">
                <a:solidFill>
                  <a:schemeClr val="tx1"/>
                </a:solidFill>
              </a:rPr>
              <a:t>Used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199" y="2144416"/>
            <a:ext cx="11105535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tx1"/>
                </a:solidFill>
              </a:rPr>
              <a:t>FTK Imager</a:t>
            </a:r>
            <a:r>
              <a:rPr sz="2400" dirty="0"/>
              <a:t>: </a:t>
            </a:r>
            <a:r>
              <a:rPr lang="en-IN" sz="2400" dirty="0"/>
              <a:t>Used f</a:t>
            </a:r>
            <a:r>
              <a:rPr sz="2400" dirty="0"/>
              <a:t>or mounting and analyzing image files.</a:t>
            </a:r>
          </a:p>
          <a:p>
            <a:r>
              <a:rPr sz="2400" dirty="0" err="1">
                <a:solidFill>
                  <a:schemeClr val="tx1"/>
                </a:solidFill>
              </a:rPr>
              <a:t>Shellbag</a:t>
            </a:r>
            <a:r>
              <a:rPr sz="2400" dirty="0">
                <a:solidFill>
                  <a:schemeClr val="tx1"/>
                </a:solidFill>
              </a:rPr>
              <a:t> Explorer</a:t>
            </a:r>
            <a:r>
              <a:rPr sz="2400" dirty="0"/>
              <a:t>: </a:t>
            </a:r>
            <a:r>
              <a:rPr lang="en-IN" sz="2400" dirty="0"/>
              <a:t>Used to </a:t>
            </a:r>
            <a:r>
              <a:rPr lang="en-IN" sz="2400" dirty="0" err="1"/>
              <a:t>analyze</a:t>
            </a:r>
            <a:r>
              <a:rPr lang="en-IN" sz="2400" dirty="0"/>
              <a:t> the </a:t>
            </a:r>
            <a:r>
              <a:rPr sz="2400" dirty="0"/>
              <a:t>UserClass.dat file.</a:t>
            </a:r>
          </a:p>
          <a:p>
            <a:r>
              <a:rPr sz="2400" dirty="0">
                <a:solidFill>
                  <a:schemeClr val="tx1"/>
                </a:solidFill>
              </a:rPr>
              <a:t>Registry Explorer</a:t>
            </a:r>
            <a:r>
              <a:rPr sz="2400" dirty="0"/>
              <a:t>: </a:t>
            </a:r>
            <a:r>
              <a:rPr lang="en-IN" sz="2400" dirty="0"/>
              <a:t>Used f</a:t>
            </a:r>
            <a:r>
              <a:rPr sz="2400" dirty="0"/>
              <a:t>or examining registry files.</a:t>
            </a:r>
          </a:p>
          <a:p>
            <a:r>
              <a:rPr sz="2400" dirty="0">
                <a:solidFill>
                  <a:schemeClr val="tx1"/>
                </a:solidFill>
              </a:rPr>
              <a:t>Virus Total</a:t>
            </a:r>
            <a:r>
              <a:rPr sz="2400" dirty="0"/>
              <a:t>: </a:t>
            </a:r>
            <a:r>
              <a:rPr lang="en-IN" sz="2400" dirty="0"/>
              <a:t>Used for</a:t>
            </a:r>
            <a:r>
              <a:rPr sz="2400" dirty="0"/>
              <a:t> analyzing potentially malicious files.</a:t>
            </a:r>
          </a:p>
          <a:p>
            <a:r>
              <a:rPr lang="en-IN" sz="2400" dirty="0">
                <a:solidFill>
                  <a:schemeClr val="tx1"/>
                </a:solidFill>
              </a:rPr>
              <a:t>VM: </a:t>
            </a:r>
            <a:r>
              <a:rPr sz="2400" dirty="0">
                <a:solidFill>
                  <a:schemeClr val="tx1"/>
                </a:solidFill>
              </a:rPr>
              <a:t>Sandbox Environment</a:t>
            </a:r>
            <a:r>
              <a:rPr lang="en-IN" sz="2400" dirty="0">
                <a:solidFill>
                  <a:schemeClr val="tx1"/>
                </a:solidFill>
              </a:rPr>
              <a:t> is used to safely examine</a:t>
            </a:r>
            <a:r>
              <a:rPr sz="2400" dirty="0"/>
              <a:t> suspicious executables.</a:t>
            </a:r>
          </a:p>
        </p:txBody>
      </p:sp>
    </p:spTree>
    <p:extLst>
      <p:ext uri="{BB962C8B-B14F-4D97-AF65-F5344CB8AC3E}">
        <p14:creationId xmlns:p14="http://schemas.microsoft.com/office/powerpoint/2010/main" val="235224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2BCA-B522-D8A9-C550-91274A17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28" y="484632"/>
            <a:ext cx="10058400" cy="1609344"/>
          </a:xfrm>
        </p:spPr>
        <p:txBody>
          <a:bodyPr/>
          <a:lstStyle/>
          <a:p>
            <a:r>
              <a:rPr lang="en-IN" dirty="0"/>
              <a:t>Forensic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3758-6FAC-96AE-B613-1F3F6B692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75" y="2540971"/>
            <a:ext cx="10353762" cy="2470584"/>
          </a:xfrm>
        </p:spPr>
        <p:txBody>
          <a:bodyPr>
            <a:normAutofit/>
          </a:bodyPr>
          <a:lstStyle/>
          <a:p>
            <a:r>
              <a:rPr lang="en-IN" dirty="0"/>
              <a:t>Finding the text file the attacker created </a:t>
            </a:r>
          </a:p>
          <a:p>
            <a:r>
              <a:rPr lang="en-US" dirty="0"/>
              <a:t>File of Interest Located:</a:t>
            </a:r>
          </a:p>
          <a:p>
            <a:r>
              <a:rPr lang="en-US" dirty="0"/>
              <a:t>File name: README.txt </a:t>
            </a:r>
          </a:p>
          <a:p>
            <a:pPr lvl="1"/>
            <a:r>
              <a:rPr lang="en-US" dirty="0"/>
              <a:t>Path: root/tools/README.txt</a:t>
            </a:r>
          </a:p>
          <a:p>
            <a:r>
              <a:rPr lang="en-US" dirty="0"/>
              <a:t>Observation : </a:t>
            </a:r>
          </a:p>
          <a:p>
            <a:pPr lvl="1"/>
            <a:r>
              <a:rPr lang="en-US" dirty="0"/>
              <a:t>Timeline: 12-12-2015 (3:24:39)</a:t>
            </a:r>
          </a:p>
          <a:p>
            <a:pPr marL="4500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FA6281-78EE-F8D5-C46A-5DED6058F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358" y="2028274"/>
            <a:ext cx="59436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957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87ED-7A50-1090-05CB-52885538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Registry Forensics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97336-71AB-A7AB-7DA9-FFE8B777F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17644"/>
            <a:ext cx="6305152" cy="4058751"/>
          </a:xfrm>
        </p:spPr>
        <p:txBody>
          <a:bodyPr/>
          <a:lstStyle/>
          <a:p>
            <a:r>
              <a:rPr lang="en-IN" dirty="0"/>
              <a:t>Extracting system and user hives with FTK imager to perform Registry Forensics</a:t>
            </a:r>
          </a:p>
          <a:p>
            <a:pPr lvl="1"/>
            <a:r>
              <a:rPr lang="en-IN" dirty="0"/>
              <a:t>SAM </a:t>
            </a:r>
          </a:p>
          <a:p>
            <a:pPr lvl="1"/>
            <a:r>
              <a:rPr lang="en-IN" dirty="0"/>
              <a:t>SOFTWARE</a:t>
            </a:r>
          </a:p>
          <a:p>
            <a:pPr lvl="1"/>
            <a:r>
              <a:rPr lang="en-IN" dirty="0"/>
              <a:t>SECURITY</a:t>
            </a:r>
          </a:p>
          <a:p>
            <a:pPr lvl="1"/>
            <a:r>
              <a:rPr lang="en-IN" dirty="0"/>
              <a:t>SYSTEM</a:t>
            </a:r>
          </a:p>
          <a:p>
            <a:pPr lvl="1"/>
            <a:r>
              <a:rPr lang="en-IN" dirty="0"/>
              <a:t>DEFAULT</a:t>
            </a:r>
          </a:p>
          <a:p>
            <a:pPr lvl="1"/>
            <a:r>
              <a:rPr lang="en-IN" dirty="0"/>
              <a:t>NTUSER.DAT</a:t>
            </a:r>
          </a:p>
          <a:p>
            <a:pPr lvl="1"/>
            <a:r>
              <a:rPr lang="en-IN" dirty="0"/>
              <a:t>USERCLASS.DAT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50" name="Picture 2" descr="Shellbags Analysis | Digital Forensics">
            <a:extLst>
              <a:ext uri="{FF2B5EF4-FFF2-40B4-BE49-F238E27FC236}">
                <a16:creationId xmlns:a16="http://schemas.microsoft.com/office/drawing/2014/main" id="{95A713E8-9A25-5D16-7004-755AFA36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422" y="3577424"/>
            <a:ext cx="2175210" cy="164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ownload Registry Explorer 0.9.2">
            <a:extLst>
              <a:ext uri="{FF2B5EF4-FFF2-40B4-BE49-F238E27FC236}">
                <a16:creationId xmlns:a16="http://schemas.microsoft.com/office/drawing/2014/main" id="{5BEF99C9-35D5-8135-8FC4-9A10E9E99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422" y="1732449"/>
            <a:ext cx="2175210" cy="181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96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BB01-CEDA-C8AE-EF29-07E6BABA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0634"/>
            <a:ext cx="10353762" cy="970450"/>
          </a:xfrm>
        </p:spPr>
        <p:txBody>
          <a:bodyPr/>
          <a:lstStyle/>
          <a:p>
            <a:r>
              <a:rPr lang="en-IN" dirty="0"/>
              <a:t>Registry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D3E4-0F93-351A-7F64-2D8C7CC8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24" y="1274443"/>
            <a:ext cx="11553013" cy="970450"/>
          </a:xfrm>
        </p:spPr>
        <p:txBody>
          <a:bodyPr/>
          <a:lstStyle/>
          <a:p>
            <a:r>
              <a:rPr lang="en-IN" dirty="0"/>
              <a:t>SAM is loaded in Registry Explorer to find the number of user accounts and login information</a:t>
            </a:r>
          </a:p>
          <a:p>
            <a:pPr lvl="1"/>
            <a:r>
              <a:rPr lang="en-IN" dirty="0"/>
              <a:t>Path: SAM\Domains\Account\Users 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F05E93-97A0-50D9-B747-6544A0EF0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64" y="2106592"/>
            <a:ext cx="11229474" cy="381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FEE88-9B41-C762-B711-5357CF45A1F6}"/>
              </a:ext>
            </a:extLst>
          </p:cNvPr>
          <p:cNvSpPr txBox="1"/>
          <p:nvPr/>
        </p:nvSpPr>
        <p:spPr>
          <a:xfrm>
            <a:off x="297815" y="5917923"/>
            <a:ext cx="11172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Observation: The Admin Account was logged in multiple times, which makes the user account suspicious</a:t>
            </a:r>
          </a:p>
        </p:txBody>
      </p:sp>
    </p:spTree>
    <p:extLst>
      <p:ext uri="{BB962C8B-B14F-4D97-AF65-F5344CB8AC3E}">
        <p14:creationId xmlns:p14="http://schemas.microsoft.com/office/powerpoint/2010/main" val="422340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7CDF-3DFC-9909-5E7B-8BBB724F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NTUSER.DAT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8CFFA3-4CAE-78FB-DEBE-E0A29FA1F9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9975" y="3225578"/>
            <a:ext cx="10058400" cy="184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8EC0BC-AA5C-2E17-FB47-C1A2D3A93F4A}"/>
              </a:ext>
            </a:extLst>
          </p:cNvPr>
          <p:cNvSpPr txBox="1">
            <a:spLocks/>
          </p:cNvSpPr>
          <p:nvPr/>
        </p:nvSpPr>
        <p:spPr>
          <a:xfrm>
            <a:off x="774701" y="1909429"/>
            <a:ext cx="10353674" cy="405875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effectLst/>
              </a:rPr>
              <a:t>Path: NTUSER.DAT\Software\Microsoft\Windows\</a:t>
            </a:r>
            <a:r>
              <a:rPr lang="en-IN" dirty="0" err="1">
                <a:effectLst/>
              </a:rPr>
              <a:t>Currentversion</a:t>
            </a:r>
            <a:r>
              <a:rPr lang="en-IN" dirty="0">
                <a:effectLst/>
              </a:rPr>
              <a:t>\Explorer\</a:t>
            </a:r>
            <a:r>
              <a:rPr lang="en-IN" dirty="0" err="1">
                <a:effectLst/>
              </a:rPr>
              <a:t>UserAssist</a:t>
            </a:r>
            <a:r>
              <a:rPr lang="en-IN" dirty="0">
                <a:effectLst/>
              </a:rPr>
              <a:t>\{GUID}\Count</a:t>
            </a:r>
          </a:p>
          <a:p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Observation: The </a:t>
            </a:r>
            <a:r>
              <a:rPr lang="en-US" dirty="0">
                <a:effectLst/>
              </a:rPr>
              <a:t>NTUSER.DAT file of the Administrator account, Notepad was being accessed at the time of the attack by the Administrator at 12-12-2015 3:24:08</a:t>
            </a:r>
          </a:p>
          <a:p>
            <a:endParaRPr lang="en-IN" dirty="0">
              <a:effectLst/>
            </a:endParaRPr>
          </a:p>
          <a:p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633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26921"/>
            <a:ext cx="11036710" cy="1143000"/>
          </a:xfrm>
        </p:spPr>
        <p:txBody>
          <a:bodyPr/>
          <a:lstStyle/>
          <a:p>
            <a:r>
              <a:rPr lang="en-IN" dirty="0"/>
              <a:t>SYSTEM</a:t>
            </a:r>
            <a:r>
              <a:rPr dirty="0"/>
              <a:t> Analysis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2052483"/>
            <a:ext cx="1103671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System Information:</a:t>
            </a:r>
          </a:p>
          <a:p>
            <a:r>
              <a:rPr dirty="0"/>
              <a:t>Computer Name: SENSEI</a:t>
            </a:r>
          </a:p>
          <a:p>
            <a:r>
              <a:rPr dirty="0"/>
              <a:t>OS: Windows 8.1 Enterprise Edition, </a:t>
            </a:r>
            <a:endParaRPr lang="en-IN" dirty="0"/>
          </a:p>
          <a:p>
            <a:r>
              <a:rPr lang="en-IN" dirty="0"/>
              <a:t>Time Zone: </a:t>
            </a:r>
            <a:r>
              <a:rPr dirty="0"/>
              <a:t>PST</a:t>
            </a:r>
            <a:r>
              <a:rPr lang="en-IN" dirty="0"/>
              <a:t> (Pakistan Standard Time)</a:t>
            </a:r>
            <a:endParaRPr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User Account Activities:</a:t>
            </a:r>
          </a:p>
          <a:p>
            <a:r>
              <a:rPr dirty="0"/>
              <a:t>Active User: Administrator</a:t>
            </a:r>
          </a:p>
          <a:p>
            <a:r>
              <a:rPr dirty="0"/>
              <a:t>Notepad.exe accessed during </a:t>
            </a:r>
            <a:r>
              <a:rPr lang="en-IN" dirty="0"/>
              <a:t>the </a:t>
            </a:r>
            <a:r>
              <a:rPr dirty="0"/>
              <a:t>attack</a:t>
            </a:r>
            <a:r>
              <a:rPr lang="en-IN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269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34D6-8E60-5DAF-EA1D-620F55A1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0A2D-6146-50ED-717F-167F36D3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29311"/>
          </a:xfrm>
        </p:spPr>
        <p:txBody>
          <a:bodyPr>
            <a:normAutofit/>
          </a:bodyPr>
          <a:lstStyle/>
          <a:p>
            <a:r>
              <a:rPr lang="en-IN" dirty="0" err="1"/>
              <a:t>ShimCache</a:t>
            </a:r>
            <a:r>
              <a:rPr lang="en-IN" dirty="0"/>
              <a:t> /</a:t>
            </a:r>
            <a:r>
              <a:rPr lang="en-IN" dirty="0" err="1"/>
              <a:t>AppCompatCache</a:t>
            </a:r>
            <a:r>
              <a:rPr lang="en-IN" dirty="0"/>
              <a:t>: Used to </a:t>
            </a:r>
            <a:r>
              <a:rPr lang="en-US" dirty="0"/>
              <a:t>store the file name, file size, and last modified time of the executables</a:t>
            </a:r>
            <a:r>
              <a:rPr lang="en-IN" dirty="0"/>
              <a:t>.</a:t>
            </a:r>
          </a:p>
          <a:p>
            <a:r>
              <a:rPr lang="en-IN" dirty="0"/>
              <a:t>Path : SYSTEM\</a:t>
            </a:r>
            <a:r>
              <a:rPr lang="en-IN" dirty="0" err="1"/>
              <a:t>CurrentControlSet</a:t>
            </a:r>
            <a:r>
              <a:rPr lang="en-IN" dirty="0"/>
              <a:t>\Control\Session Manager\</a:t>
            </a:r>
            <a:r>
              <a:rPr lang="en-IN" dirty="0" err="1"/>
              <a:t>AppCompatCache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Observation: Magnify.exe was the only executable used close to the time of the attack </a:t>
            </a:r>
          </a:p>
          <a:p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EC58C85-FD52-4D5F-BB9C-42771E2EB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2" y="2982278"/>
            <a:ext cx="10353761" cy="224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451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2B58-B210-1889-6427-33A688FD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73800"/>
            <a:ext cx="10353762" cy="970450"/>
          </a:xfrm>
        </p:spPr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6303A-5FA3-85B8-43D6-DC2A6B5FD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028" y="1865769"/>
            <a:ext cx="10058400" cy="4050792"/>
          </a:xfrm>
        </p:spPr>
        <p:txBody>
          <a:bodyPr/>
          <a:lstStyle/>
          <a:p>
            <a:r>
              <a:rPr lang="en-IN" dirty="0"/>
              <a:t>Extracting Magnify.exe with the  help of FTK imager to sandbox environment </a:t>
            </a:r>
          </a:p>
          <a:p>
            <a:pPr lvl="1"/>
            <a:r>
              <a:rPr lang="en-IN" dirty="0"/>
              <a:t>Path: SYSVOL/Windows/System32/Magnify.exe </a:t>
            </a:r>
          </a:p>
          <a:p>
            <a:pPr marL="450000" lvl="1" indent="0">
              <a:buNone/>
            </a:pPr>
            <a:endParaRPr lang="en-IN" dirty="0"/>
          </a:p>
          <a:p>
            <a:r>
              <a:rPr lang="en-IN" dirty="0"/>
              <a:t>Observations:</a:t>
            </a:r>
          </a:p>
          <a:p>
            <a:pPr lvl="1"/>
            <a:r>
              <a:rPr lang="en-IN" dirty="0"/>
              <a:t>Size: 346 KB</a:t>
            </a:r>
          </a:p>
          <a:p>
            <a:pPr lvl="1"/>
            <a:r>
              <a:rPr lang="en-IN" dirty="0"/>
              <a:t>Date Modified: 11-12-2015</a:t>
            </a:r>
          </a:p>
          <a:p>
            <a:pPr lvl="1"/>
            <a:r>
              <a:rPr lang="en-IN" dirty="0"/>
              <a:t>Time Modified: 7:18:54</a:t>
            </a:r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45958CEE-F75E-906F-33FD-DFD2AB8F7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080" y="2651760"/>
            <a:ext cx="5943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09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984A-907E-0DE5-1254-4D0BB6CB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3C903-DBA7-F539-8EFB-17552B15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505755"/>
            <a:ext cx="4603085" cy="4058751"/>
          </a:xfrm>
        </p:spPr>
        <p:txBody>
          <a:bodyPr/>
          <a:lstStyle/>
          <a:p>
            <a:r>
              <a:rPr lang="en-IN" dirty="0"/>
              <a:t>Comparing the downloaded executable with the preexisting magnify.exe in system32 directory</a:t>
            </a:r>
          </a:p>
          <a:p>
            <a:r>
              <a:rPr lang="en-IN" dirty="0"/>
              <a:t>Observation</a:t>
            </a:r>
          </a:p>
          <a:p>
            <a:pPr lvl="1"/>
            <a:r>
              <a:rPr lang="en-IN" dirty="0"/>
              <a:t>Difference in Size </a:t>
            </a:r>
          </a:p>
          <a:p>
            <a:pPr lvl="1"/>
            <a:r>
              <a:rPr lang="en-IN" dirty="0"/>
              <a:t>Difference in Icon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54D83E-E4FC-DD11-3F9C-34A7687E9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798" y="2085974"/>
            <a:ext cx="563940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BF89450A-E415-E1D9-7EF2-4B62DACE6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799" y="3557587"/>
            <a:ext cx="563940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838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B3F6-EDE3-6377-7B0E-30BAEF30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Confirmatory Evidence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CAA4-7EC3-18F7-E57B-F3278079F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Uploading </a:t>
            </a:r>
            <a:r>
              <a:rPr lang="en-IN" dirty="0" err="1"/>
              <a:t>Magnify.exe</a:t>
            </a:r>
            <a:r>
              <a:rPr lang="en-IN" dirty="0"/>
              <a:t> in </a:t>
            </a:r>
            <a:r>
              <a:rPr lang="en-IN" dirty="0" err="1"/>
              <a:t>VirusTotal</a:t>
            </a:r>
            <a:endParaRPr lang="en-IN" dirty="0"/>
          </a:p>
          <a:p>
            <a:r>
              <a:rPr lang="en-IN" dirty="0"/>
              <a:t>Observation:</a:t>
            </a:r>
          </a:p>
          <a:p>
            <a:pPr lvl="1"/>
            <a:r>
              <a:rPr lang="en-IN" dirty="0"/>
              <a:t>The file name is </a:t>
            </a:r>
            <a:r>
              <a:rPr lang="en-IN" dirty="0" err="1"/>
              <a:t>cmd</a:t>
            </a:r>
            <a:endParaRPr lang="en-IN" dirty="0"/>
          </a:p>
          <a:p>
            <a:pPr lvl="1"/>
            <a:r>
              <a:rPr lang="en-IN" dirty="0"/>
              <a:t>Obtained the hash of the file </a:t>
            </a:r>
          </a:p>
          <a:p>
            <a:pPr marL="3690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Surprisingly Command Prompt And </a:t>
            </a:r>
            <a:r>
              <a:rPr lang="en-US" dirty="0" err="1"/>
              <a:t>Magni</a:t>
            </a:r>
            <a:r>
              <a:rPr lang="en-IN" dirty="0" err="1"/>
              <a:t>fy</a:t>
            </a:r>
            <a:r>
              <a:rPr lang="en-IN" dirty="0"/>
              <a:t> had the same icon and size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A86AB-951D-61E9-8322-4A0D3DA7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78" y="3722882"/>
            <a:ext cx="740195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0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B359-F5A8-8B56-7377-67FD78D7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64F8C4E-7D65-AA80-6692-FB94876E9F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351" y="1704181"/>
            <a:ext cx="8872649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4D7BDD-1658-8CB7-5358-880D0E21E512}"/>
              </a:ext>
            </a:extLst>
          </p:cNvPr>
          <p:cNvSpPr txBox="1"/>
          <p:nvPr/>
        </p:nvSpPr>
        <p:spPr>
          <a:xfrm>
            <a:off x="1654351" y="6063734"/>
            <a:ext cx="972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SHA256          0B9BC863E2807B6886760480083E51BA8A66118659F4FF274E7B73944D2219F5</a:t>
            </a:r>
          </a:p>
        </p:txBody>
      </p:sp>
    </p:spTree>
    <p:extLst>
      <p:ext uri="{BB962C8B-B14F-4D97-AF65-F5344CB8AC3E}">
        <p14:creationId xmlns:p14="http://schemas.microsoft.com/office/powerpoint/2010/main" val="250569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94026" cy="11430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94026" cy="4525963"/>
          </a:xfrm>
        </p:spPr>
        <p:txBody>
          <a:bodyPr/>
          <a:lstStyle/>
          <a:p>
            <a:r>
              <a:rPr lang="en-IN" dirty="0"/>
              <a:t>Hypothesis</a:t>
            </a:r>
            <a:r>
              <a:rPr dirty="0"/>
              <a:t>: </a:t>
            </a:r>
            <a:r>
              <a:rPr lang="en-IN" dirty="0"/>
              <a:t>The attacker</a:t>
            </a:r>
            <a:r>
              <a:rPr dirty="0"/>
              <a:t> gained privileged access, </a:t>
            </a:r>
            <a:r>
              <a:rPr lang="en-IN" dirty="0"/>
              <a:t>and </a:t>
            </a:r>
            <a:r>
              <a:rPr dirty="0"/>
              <a:t>replaced Magnify.exe with cmd.exe.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597879" y="2646886"/>
            <a:ext cx="5480823" cy="68499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effectLst/>
              </a:rPr>
              <a:t>Recommendations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199" y="3510117"/>
            <a:ext cx="11331677" cy="271240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/>
              </a:rPr>
              <a:t>Enforce stricter access policies and implement multi-factor authentication.</a:t>
            </a:r>
          </a:p>
          <a:p>
            <a:r>
              <a:rPr lang="en-US" dirty="0">
                <a:effectLst/>
              </a:rPr>
              <a:t>Regularly monitor and verify core executables' integrity.</a:t>
            </a:r>
          </a:p>
          <a:p>
            <a:r>
              <a:rPr lang="en-US" dirty="0">
                <a:effectLst/>
              </a:rPr>
              <a:t>Strengthen firewall and intrusion detection systems.</a:t>
            </a:r>
          </a:p>
        </p:txBody>
      </p:sp>
    </p:spTree>
    <p:extLst>
      <p:ext uri="{BB962C8B-B14F-4D97-AF65-F5344CB8AC3E}">
        <p14:creationId xmlns:p14="http://schemas.microsoft.com/office/powerpoint/2010/main" val="271016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CDFD-2A94-6E23-8E7A-C8DD71FC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96" y="2624668"/>
            <a:ext cx="10058400" cy="1609344"/>
          </a:xfrm>
        </p:spPr>
        <p:txBody>
          <a:bodyPr/>
          <a:lstStyle/>
          <a:p>
            <a:r>
              <a:rPr lang="en-US" dirty="0"/>
              <a:t>Questions | Feedback | FEELINGS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424B3-773D-687A-8710-FBCD6B14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205" y="3902687"/>
            <a:ext cx="10058400" cy="19388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Thank you, guys</a:t>
            </a:r>
          </a:p>
        </p:txBody>
      </p:sp>
    </p:spTree>
    <p:extLst>
      <p:ext uri="{BB962C8B-B14F-4D97-AF65-F5344CB8AC3E}">
        <p14:creationId xmlns:p14="http://schemas.microsoft.com/office/powerpoint/2010/main" val="3569860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334</TotalTime>
  <Words>639</Words>
  <Application>Microsoft Office PowerPoint</Application>
  <PresentationFormat>Widescreen</PresentationFormat>
  <Paragraphs>110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Rockwell</vt:lpstr>
      <vt:lpstr>Rockwell Condensed</vt:lpstr>
      <vt:lpstr>Wingdings</vt:lpstr>
      <vt:lpstr>Wingdings 2</vt:lpstr>
      <vt:lpstr>Wood Type</vt:lpstr>
      <vt:lpstr>Unauthorized System Access and Modification</vt:lpstr>
      <vt:lpstr>PowerPoint Presentation</vt:lpstr>
      <vt:lpstr>Evidence Summary</vt:lpstr>
      <vt:lpstr>Tools &amp; SOFTWARES Used</vt:lpstr>
      <vt:lpstr>Forensic Investigation</vt:lpstr>
      <vt:lpstr>Registry Forensics</vt:lpstr>
      <vt:lpstr>Registry Forensics</vt:lpstr>
      <vt:lpstr>NTUSER.DAT</vt:lpstr>
      <vt:lpstr>SYSTEM Analysis</vt:lpstr>
      <vt:lpstr>SYSTEM</vt:lpstr>
      <vt:lpstr>Analysis</vt:lpstr>
      <vt:lpstr>Initial Evidence</vt:lpstr>
      <vt:lpstr>Confirmatory Evidence </vt:lpstr>
      <vt:lpstr>Verification </vt:lpstr>
      <vt:lpstr>Conclusion</vt:lpstr>
      <vt:lpstr>Questions | Feedback | FEELINGS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Unauthorized System Access and Modification</dc:title>
  <dc:creator>Rethick Viswajith</dc:creator>
  <cp:lastModifiedBy>Rethick Jeganathan</cp:lastModifiedBy>
  <cp:revision>4</cp:revision>
  <dcterms:created xsi:type="dcterms:W3CDTF">2024-11-06T17:38:42Z</dcterms:created>
  <dcterms:modified xsi:type="dcterms:W3CDTF">2026-06-02T17:09:48Z</dcterms:modified>
</cp:coreProperties>
</file>